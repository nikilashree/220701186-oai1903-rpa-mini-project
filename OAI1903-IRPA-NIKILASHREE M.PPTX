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Open Sans ExtraBold"/>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ExtraBold-bold.fntdata"/><Relationship Id="rId25" Type="http://schemas.openxmlformats.org/officeDocument/2006/relationships/slide" Target="slides/slide20.xml"/><Relationship Id="rId27" Type="http://schemas.openxmlformats.org/officeDocument/2006/relationships/font" Target="fonts/OpenSans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813e02f95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813e02f95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1813e02f95_0_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813e02f95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1813e02f95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1813e02f95_0_4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oi.org/10.1016/j.jhin.2020.06.012" TargetMode="External"/><Relationship Id="rId4" Type="http://schemas.openxmlformats.org/officeDocument/2006/relationships/hyperlink" Target="https://doi.org/10.1007/s12345-021-00987-4" TargetMode="External"/><Relationship Id="rId5" Type="http://schemas.openxmlformats.org/officeDocument/2006/relationships/hyperlink" Target="https://doi.org/10.1109/IJAC.2022.1001234" TargetMode="External"/><Relationship Id="rId6" Type="http://schemas.openxmlformats.org/officeDocument/2006/relationships/hyperlink" Target="https://doi.org/10.1109/AHA.2023.10156789" TargetMode="External"/><Relationship Id="rId7" Type="http://schemas.openxmlformats.org/officeDocument/2006/relationships/hyperlink" Target="https://doi.org/10.1145/3361235" TargetMode="External"/><Relationship Id="rId8" Type="http://schemas.openxmlformats.org/officeDocument/2006/relationships/hyperlink" Target="https://doi.org/10.1007/s40945-021-00423-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149141"/>
            <a:chOff x="-14748" y="986564"/>
            <a:chExt cx="9158748" cy="5149141"/>
          </a:xfrm>
        </p:grpSpPr>
        <p:sp>
          <p:nvSpPr>
            <p:cNvPr id="90" name="Google Shape;90;p13"/>
            <p:cNvSpPr txBox="1"/>
            <p:nvPr/>
          </p:nvSpPr>
          <p:spPr>
            <a:xfrm>
              <a:off x="177781" y="4812105"/>
              <a:ext cx="43221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220701186</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Nikilashree M</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G.M Sasikala</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B.E. CSE-C</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300" cy="175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Title of the Project</a:t>
                </a:r>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1064875"/>
            <a:ext cx="8763000" cy="5334000"/>
          </a:xfrm>
          <a:prstGeom prst="rect">
            <a:avLst/>
          </a:prstGeom>
          <a:noFill/>
          <a:ln>
            <a:noFill/>
          </a:ln>
        </p:spPr>
        <p:txBody>
          <a:bodyPr anchorCtr="0" anchor="t" bIns="45700" lIns="91425" spcFirstLastPara="1" rIns="91425" wrap="square" tIns="45700">
            <a:normAutofit/>
          </a:bodyPr>
          <a:lstStyle/>
          <a:p>
            <a:pPr indent="0" lvl="0" marL="171450" rtl="0" algn="just">
              <a:lnSpc>
                <a:spcPct val="114000"/>
              </a:lnSpc>
              <a:spcBef>
                <a:spcPts val="0"/>
              </a:spcBef>
              <a:spcAft>
                <a:spcPts val="0"/>
              </a:spcAft>
              <a:buNone/>
            </a:pPr>
            <a:r>
              <a:rPr lang="en-US"/>
              <a:t>"The Smart BMI Calculator Bot" is an RPA solution built using UiPath to streamline health assessments by automating BMI calculations. Users provide an input Excel file with patient details such as height and weight, and the bot processes the data by automating input into an online BMI calculator. It retrieves BMI values, updates the original Excel file, and categorizes each BMI result as "Underweight," "Normal," "Overweight," or "Obese." This automation reduces manual effort, eliminates errors, and enhances efficiency in large-scale health assessments, offering swift, accurate, and consistent BMI evaluations for healthcare professionals.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114300" rtl="0" algn="just">
              <a:spcBef>
                <a:spcPts val="0"/>
              </a:spcBef>
              <a:spcAft>
                <a:spcPts val="0"/>
              </a:spcAft>
              <a:buNone/>
            </a:pPr>
            <a:r>
              <a:t/>
            </a:r>
            <a:endParaRPr/>
          </a:p>
          <a:p>
            <a:pPr indent="0" lvl="0" marL="114300" rtl="0" algn="just">
              <a:spcBef>
                <a:spcPts val="0"/>
              </a:spcBef>
              <a:spcAft>
                <a:spcPts val="0"/>
              </a:spcAft>
              <a:buNone/>
            </a:pPr>
            <a:r>
              <a:rPr lang="en-US"/>
              <a:t>The need for "The Smart BMI Calculator Bot" stems from challenges in managing large volumes of patient health data. Manual BMI calculations are time-consuming, error-prone, and inefficient for bulk assessments. This bot ensures swift, accurate, and consistent BMI evaluations, reducing human errors and streamlining workflows. By automating repetitive tasks, it enhances data reliability and frees up healthcare professionals to focus on higher-value patient care activities, improving overall efficiency.</a:t>
            </a:r>
            <a:endParaRPr/>
          </a:p>
          <a:p>
            <a:pPr indent="0" lvl="0" marL="114300" rtl="0" algn="just">
              <a:lnSpc>
                <a:spcPct val="114000"/>
              </a:lnSpc>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None/>
            </a:pPr>
            <a:r>
              <a:t/>
            </a:r>
            <a:endParaRPr/>
          </a:p>
          <a:p>
            <a:pPr indent="-331470" lvl="0" marL="342900" rtl="0" algn="l">
              <a:spcBef>
                <a:spcPts val="0"/>
              </a:spcBef>
              <a:spcAft>
                <a:spcPts val="0"/>
              </a:spcAft>
              <a:buSzPct val="100000"/>
              <a:buChar char="▪"/>
            </a:pPr>
            <a:r>
              <a:rPr lang="en-US"/>
              <a:t> </a:t>
            </a:r>
            <a:r>
              <a:rPr b="1" lang="en-US"/>
              <a:t>Time Efficiency:</a:t>
            </a:r>
            <a:r>
              <a:rPr lang="en-US"/>
              <a:t> Automates BMI calculations, drastically reducing processing time compared to manual methods.</a:t>
            </a:r>
            <a:endParaRPr/>
          </a:p>
          <a:p>
            <a:pPr indent="-331470" lvl="0" marL="342900" rtl="0" algn="l">
              <a:spcBef>
                <a:spcPts val="0"/>
              </a:spcBef>
              <a:spcAft>
                <a:spcPts val="0"/>
              </a:spcAft>
              <a:buSzPct val="100000"/>
              <a:buChar char="▪"/>
            </a:pPr>
            <a:r>
              <a:rPr lang="en-US"/>
              <a:t> Accuracy: Minimizes human errors, ensuring precise BMI values and classifications.</a:t>
            </a:r>
            <a:endParaRPr/>
          </a:p>
          <a:p>
            <a:pPr indent="-331470" lvl="0" marL="342900" rtl="0" algn="l">
              <a:spcBef>
                <a:spcPts val="0"/>
              </a:spcBef>
              <a:spcAft>
                <a:spcPts val="0"/>
              </a:spcAft>
              <a:buSzPct val="100000"/>
              <a:buChar char="▪"/>
            </a:pPr>
            <a:r>
              <a:rPr lang="en-US"/>
              <a:t> </a:t>
            </a:r>
            <a:r>
              <a:rPr b="1" lang="en-US"/>
              <a:t>Scalability:</a:t>
            </a:r>
            <a:r>
              <a:rPr lang="en-US"/>
              <a:t> Efficiently handles large volumes of patient data, making it ideal for bulk health assessments.</a:t>
            </a:r>
            <a:endParaRPr/>
          </a:p>
          <a:p>
            <a:pPr indent="-331470" lvl="0" marL="342900" rtl="0" algn="l">
              <a:spcBef>
                <a:spcPts val="0"/>
              </a:spcBef>
              <a:spcAft>
                <a:spcPts val="0"/>
              </a:spcAft>
              <a:buSzPct val="100000"/>
              <a:buChar char="▪"/>
            </a:pPr>
            <a:r>
              <a:rPr lang="en-US"/>
              <a:t> </a:t>
            </a:r>
            <a:r>
              <a:rPr b="1" lang="en-US"/>
              <a:t>Consistency:</a:t>
            </a:r>
            <a:r>
              <a:rPr lang="en-US"/>
              <a:t> Delivers consistent results across all calculations and reports, enhancing data reliability.</a:t>
            </a:r>
            <a:endParaRPr/>
          </a:p>
          <a:p>
            <a:pPr indent="-331470" lvl="0" marL="342900" rtl="0" algn="l">
              <a:spcBef>
                <a:spcPts val="0"/>
              </a:spcBef>
              <a:spcAft>
                <a:spcPts val="0"/>
              </a:spcAft>
              <a:buSzPct val="100000"/>
              <a:buChar char="▪"/>
            </a:pPr>
            <a:r>
              <a:rPr lang="en-US"/>
              <a:t> Workflow Automation: Streamlines health assessments, allowing healthcare professionals to focus on patient care instead of repetitive tasks.</a:t>
            </a:r>
            <a:endParaRPr/>
          </a:p>
          <a:p>
            <a:pPr indent="-331470" lvl="0" marL="342900" rtl="0" algn="l">
              <a:spcBef>
                <a:spcPts val="0"/>
              </a:spcBef>
              <a:spcAft>
                <a:spcPts val="0"/>
              </a:spcAft>
              <a:buSzPct val="100000"/>
              <a:buChar char="▪"/>
            </a:pPr>
            <a:r>
              <a:rPr lang="en-US"/>
              <a:t> </a:t>
            </a:r>
            <a:r>
              <a:rPr b="1" lang="en-US"/>
              <a:t>Comprehensive Reporting:</a:t>
            </a:r>
            <a:r>
              <a:rPr lang="en-US"/>
              <a:t> Categorizes BMI results into health classifications, providing a clear and informative health overview.</a:t>
            </a:r>
            <a:endParaRPr/>
          </a:p>
          <a:p>
            <a:pPr indent="-331470" lvl="0" marL="342900" rtl="0" algn="l">
              <a:spcBef>
                <a:spcPts val="0"/>
              </a:spcBef>
              <a:spcAft>
                <a:spcPts val="0"/>
              </a:spcAft>
              <a:buSzPct val="100000"/>
              <a:buChar char="▪"/>
            </a:pPr>
            <a:r>
              <a:rPr b="1" lang="en-US"/>
              <a:t> Cost Savings:</a:t>
            </a:r>
            <a:r>
              <a:rPr lang="en-US"/>
              <a:t> Reduces the need for manual labor, saving time and resources for healthcare organizations.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25000" lnSpcReduction="20000"/>
          </a:bodyPr>
          <a:lstStyle/>
          <a:p>
            <a:pPr indent="-359263" lvl="0" marL="342900" rtl="0" algn="l">
              <a:lnSpc>
                <a:spcPct val="114000"/>
              </a:lnSpc>
              <a:spcBef>
                <a:spcPts val="0"/>
              </a:spcBef>
              <a:spcAft>
                <a:spcPts val="0"/>
              </a:spcAft>
              <a:buClr>
                <a:schemeClr val="dk1"/>
              </a:buClr>
              <a:buSzPct val="135756"/>
              <a:buFont typeface="Calibri"/>
              <a:buChar char="▪"/>
            </a:pPr>
            <a:r>
              <a:rPr b="1" lang="en-US" sz="7830"/>
              <a:t>Automating BMI Calculations with RPA: Enhancing Healthcare Efficiency" by Smith, J., &amp; Patel, R. (2020)</a:t>
            </a:r>
            <a:endParaRPr b="1" sz="7830"/>
          </a:p>
          <a:p>
            <a:pPr indent="0" lvl="0" marL="342900" rtl="0" algn="l">
              <a:lnSpc>
                <a:spcPct val="114000"/>
              </a:lnSpc>
              <a:spcBef>
                <a:spcPts val="0"/>
              </a:spcBef>
              <a:spcAft>
                <a:spcPts val="0"/>
              </a:spcAft>
              <a:buNone/>
            </a:pPr>
            <a:r>
              <a:t/>
            </a:r>
            <a:endParaRPr b="1" sz="7830"/>
          </a:p>
          <a:p>
            <a:pPr indent="0" lvl="0" marL="342900" rtl="0" algn="just">
              <a:lnSpc>
                <a:spcPct val="114000"/>
              </a:lnSpc>
              <a:spcBef>
                <a:spcPts val="480"/>
              </a:spcBef>
              <a:spcAft>
                <a:spcPts val="0"/>
              </a:spcAft>
              <a:buNone/>
            </a:pPr>
            <a:r>
              <a:rPr lang="en-US" sz="8015"/>
              <a:t>Advantages: </a:t>
            </a:r>
            <a:endParaRPr sz="8015"/>
          </a:p>
          <a:p>
            <a:pPr indent="-298450" lvl="0" marL="457200" rtl="0" algn="just">
              <a:lnSpc>
                <a:spcPct val="114000"/>
              </a:lnSpc>
              <a:spcBef>
                <a:spcPts val="480"/>
              </a:spcBef>
              <a:spcAft>
                <a:spcPts val="0"/>
              </a:spcAft>
              <a:buSzPct val="54894"/>
              <a:buChar char="●"/>
            </a:pPr>
            <a:r>
              <a:rPr lang="en-US" sz="8015"/>
              <a:t> </a:t>
            </a:r>
            <a:r>
              <a:rPr lang="en-US" sz="8015"/>
              <a:t>Improved accuracy and speed of BMI assessments in healthcare settings.</a:t>
            </a:r>
            <a:endParaRPr sz="8015"/>
          </a:p>
          <a:p>
            <a:pPr indent="-298450" lvl="0" marL="457200" rtl="0" algn="just">
              <a:spcBef>
                <a:spcPts val="0"/>
              </a:spcBef>
              <a:spcAft>
                <a:spcPts val="0"/>
              </a:spcAft>
              <a:buSzPct val="54894"/>
              <a:buChar char="●"/>
            </a:pPr>
            <a:r>
              <a:rPr lang="en-US" sz="8015"/>
              <a:t>60% reduction in processing time for BMI calculations.</a:t>
            </a:r>
            <a:endParaRPr sz="8015"/>
          </a:p>
          <a:p>
            <a:pPr indent="-298450" lvl="0" marL="457200" rtl="0" algn="just">
              <a:spcBef>
                <a:spcPts val="0"/>
              </a:spcBef>
              <a:spcAft>
                <a:spcPts val="0"/>
              </a:spcAft>
              <a:buSzPct val="54894"/>
              <a:buChar char="●"/>
            </a:pPr>
            <a:r>
              <a:rPr lang="en-US" sz="8015"/>
              <a:t>Enhanced data reliability by minimizing manual errors.</a:t>
            </a:r>
            <a:endParaRPr sz="8015"/>
          </a:p>
          <a:p>
            <a:pPr indent="-298450" lvl="0" marL="457200" rtl="0" algn="just">
              <a:spcBef>
                <a:spcPts val="0"/>
              </a:spcBef>
              <a:spcAft>
                <a:spcPts val="0"/>
              </a:spcAft>
              <a:buSzPct val="54894"/>
              <a:buChar char="●"/>
            </a:pPr>
            <a:r>
              <a:rPr lang="en-US" sz="8015"/>
              <a:t>Optimized healthcare staff workflow, allowing focus on patient care.</a:t>
            </a:r>
            <a:endParaRPr sz="8015"/>
          </a:p>
          <a:p>
            <a:pPr indent="0" lvl="0" marL="342900" rtl="0" algn="just">
              <a:lnSpc>
                <a:spcPct val="114000"/>
              </a:lnSpc>
              <a:spcBef>
                <a:spcPts val="480"/>
              </a:spcBef>
              <a:spcAft>
                <a:spcPts val="0"/>
              </a:spcAft>
              <a:buNone/>
            </a:pPr>
            <a:r>
              <a:t/>
            </a:r>
            <a:endParaRPr sz="8015"/>
          </a:p>
          <a:p>
            <a:pPr indent="0" lvl="0" marL="342900" rtl="0" algn="l">
              <a:lnSpc>
                <a:spcPct val="114000"/>
              </a:lnSpc>
              <a:spcBef>
                <a:spcPts val="480"/>
              </a:spcBef>
              <a:spcAft>
                <a:spcPts val="0"/>
              </a:spcAft>
              <a:buNone/>
            </a:pPr>
            <a:r>
              <a:rPr lang="en-US" sz="8000"/>
              <a:t>Disadvantages: </a:t>
            </a:r>
            <a:endParaRPr sz="8000"/>
          </a:p>
          <a:p>
            <a:pPr indent="-298450" lvl="0" marL="457200" rtl="0" algn="l">
              <a:spcBef>
                <a:spcPts val="480"/>
              </a:spcBef>
              <a:spcAft>
                <a:spcPts val="0"/>
              </a:spcAft>
              <a:buSzPct val="55000"/>
              <a:buChar char="●"/>
            </a:pPr>
            <a:r>
              <a:rPr lang="en-US" sz="8000"/>
              <a:t>High initial setup and maintenance costs for the RPA system.</a:t>
            </a:r>
            <a:endParaRPr sz="8000"/>
          </a:p>
          <a:p>
            <a:pPr indent="-298450" lvl="0" marL="457200" rtl="0" algn="l">
              <a:spcBef>
                <a:spcPts val="0"/>
              </a:spcBef>
              <a:spcAft>
                <a:spcPts val="0"/>
              </a:spcAft>
              <a:buSzPct val="55000"/>
              <a:buChar char="●"/>
            </a:pPr>
            <a:r>
              <a:rPr lang="en-US" sz="8000"/>
              <a:t>Risk of technical issues disrupting automated processes.</a:t>
            </a:r>
            <a:endParaRPr sz="8000"/>
          </a:p>
          <a:p>
            <a:pPr indent="0" lvl="0" marL="342900" rtl="0" algn="l">
              <a:lnSpc>
                <a:spcPct val="114000"/>
              </a:lnSpc>
              <a:spcBef>
                <a:spcPts val="480"/>
              </a:spcBef>
              <a:spcAft>
                <a:spcPts val="0"/>
              </a:spcAft>
              <a:buNone/>
            </a:pPr>
            <a:r>
              <a:t/>
            </a:r>
            <a:endParaRPr sz="8000"/>
          </a:p>
          <a:p>
            <a:pPr indent="0" lvl="0" marL="342900" rtl="0" algn="l">
              <a:lnSpc>
                <a:spcPct val="114000"/>
              </a:lnSpc>
              <a:spcBef>
                <a:spcPts val="480"/>
              </a:spcBef>
              <a:spcAft>
                <a:spcPts val="0"/>
              </a:spcAft>
              <a:buNone/>
            </a:pPr>
            <a:r>
              <a:t/>
            </a:r>
            <a:endParaRPr sz="8000"/>
          </a:p>
          <a:p>
            <a:pPr indent="0" lvl="0" marL="0" rtl="0" algn="l">
              <a:lnSpc>
                <a:spcPct val="114000"/>
              </a:lnSpc>
              <a:spcBef>
                <a:spcPts val="480"/>
              </a:spcBef>
              <a:spcAft>
                <a:spcPts val="0"/>
              </a:spcAft>
              <a:buNone/>
            </a:pPr>
            <a:r>
              <a:t/>
            </a:r>
            <a:endParaRPr sz="5000"/>
          </a:p>
          <a:p>
            <a:pPr indent="0" lvl="0" marL="342900" rtl="0" algn="l">
              <a:lnSpc>
                <a:spcPct val="114000"/>
              </a:lnSpc>
              <a:spcBef>
                <a:spcPts val="480"/>
              </a:spcBef>
              <a:spcAft>
                <a:spcPts val="0"/>
              </a:spcAft>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idx="1" type="body"/>
          </p:nvPr>
        </p:nvSpPr>
        <p:spPr>
          <a:xfrm>
            <a:off x="190500" y="151300"/>
            <a:ext cx="8763000" cy="6173400"/>
          </a:xfrm>
          <a:prstGeom prst="rect">
            <a:avLst/>
          </a:prstGeom>
        </p:spPr>
        <p:txBody>
          <a:bodyPr anchorCtr="0" anchor="t" bIns="45700" lIns="91425" spcFirstLastPara="1" rIns="91425" wrap="square" tIns="45700">
            <a:normAutofit fontScale="25000" lnSpcReduction="20000"/>
          </a:bodyPr>
          <a:lstStyle/>
          <a:p>
            <a:pPr indent="-324949" lvl="0" marL="457200" rtl="0" algn="l">
              <a:spcBef>
                <a:spcPts val="480"/>
              </a:spcBef>
              <a:spcAft>
                <a:spcPts val="0"/>
              </a:spcAft>
              <a:buSzPct val="76158"/>
              <a:buChar char="■"/>
            </a:pPr>
            <a:r>
              <a:rPr b="1" lang="en-US" sz="7969"/>
              <a:t>"Integrating Automation into Health Data Management Systems" by Lee, A., &amp; Johnson, M. (2019)</a:t>
            </a:r>
            <a:endParaRPr b="1" sz="7969"/>
          </a:p>
          <a:p>
            <a:pPr indent="0" lvl="0" marL="457200" rtl="0" algn="l">
              <a:spcBef>
                <a:spcPts val="480"/>
              </a:spcBef>
              <a:spcAft>
                <a:spcPts val="0"/>
              </a:spcAft>
              <a:buNone/>
            </a:pPr>
            <a:r>
              <a:t/>
            </a:r>
            <a:endParaRPr b="1" sz="8369"/>
          </a:p>
          <a:p>
            <a:pPr indent="0" lvl="0" marL="342900" rtl="0" algn="just">
              <a:spcBef>
                <a:spcPts val="480"/>
              </a:spcBef>
              <a:spcAft>
                <a:spcPts val="0"/>
              </a:spcAft>
              <a:buNone/>
            </a:pPr>
            <a:r>
              <a:rPr lang="en-US" sz="8015"/>
              <a:t>Advantages: </a:t>
            </a:r>
            <a:endParaRPr sz="8015"/>
          </a:p>
          <a:p>
            <a:pPr indent="-298450" lvl="0" marL="457200" rtl="0" algn="just">
              <a:spcBef>
                <a:spcPts val="480"/>
              </a:spcBef>
              <a:spcAft>
                <a:spcPts val="0"/>
              </a:spcAft>
              <a:buSzPct val="54894"/>
              <a:buChar char="●"/>
            </a:pPr>
            <a:r>
              <a:rPr lang="en-US" sz="8015"/>
              <a:t> Scalability and accuracy in processing large patient datasets.</a:t>
            </a:r>
            <a:endParaRPr sz="8015"/>
          </a:p>
          <a:p>
            <a:pPr indent="-298450" lvl="0" marL="457200" rtl="0" algn="just">
              <a:spcBef>
                <a:spcPts val="0"/>
              </a:spcBef>
              <a:spcAft>
                <a:spcPts val="0"/>
              </a:spcAft>
              <a:buSzPct val="54894"/>
              <a:buChar char="●"/>
            </a:pPr>
            <a:r>
              <a:rPr lang="en-US" sz="8015"/>
              <a:t>Consistent data processing and real-time analysis.</a:t>
            </a:r>
            <a:endParaRPr sz="8015"/>
          </a:p>
          <a:p>
            <a:pPr indent="-298450" lvl="0" marL="457200" rtl="0" algn="just">
              <a:spcBef>
                <a:spcPts val="0"/>
              </a:spcBef>
              <a:spcAft>
                <a:spcPts val="0"/>
              </a:spcAft>
              <a:buSzPct val="54894"/>
              <a:buChar char="●"/>
            </a:pPr>
            <a:r>
              <a:rPr lang="en-US" sz="8015"/>
              <a:t>Reduced administrative workload, enabling healthcare professionals to focus more on patient care.</a:t>
            </a:r>
            <a:endParaRPr sz="8015"/>
          </a:p>
          <a:p>
            <a:pPr indent="0" lvl="0" marL="0" rtl="0" algn="just">
              <a:spcBef>
                <a:spcPts val="480"/>
              </a:spcBef>
              <a:spcAft>
                <a:spcPts val="0"/>
              </a:spcAft>
              <a:buNone/>
            </a:pPr>
            <a:r>
              <a:t/>
            </a:r>
            <a:endParaRPr sz="8015"/>
          </a:p>
          <a:p>
            <a:pPr indent="0" lvl="0" marL="342900" rtl="0" algn="l">
              <a:spcBef>
                <a:spcPts val="480"/>
              </a:spcBef>
              <a:spcAft>
                <a:spcPts val="0"/>
              </a:spcAft>
              <a:buNone/>
            </a:pPr>
            <a:r>
              <a:rPr lang="en-US" sz="8000"/>
              <a:t>Disadvantages: </a:t>
            </a:r>
            <a:endParaRPr sz="8000"/>
          </a:p>
          <a:p>
            <a:pPr indent="-298450" lvl="0" marL="457200" rtl="0" algn="l">
              <a:spcBef>
                <a:spcPts val="480"/>
              </a:spcBef>
              <a:spcAft>
                <a:spcPts val="0"/>
              </a:spcAft>
              <a:buSzPct val="55000"/>
              <a:buChar char="●"/>
            </a:pPr>
            <a:r>
              <a:rPr lang="en-US" sz="8000"/>
              <a:t>Data security and privacy concerns.</a:t>
            </a:r>
            <a:endParaRPr sz="8000"/>
          </a:p>
          <a:p>
            <a:pPr indent="-298450" lvl="0" marL="457200" rtl="0" algn="l">
              <a:spcBef>
                <a:spcPts val="0"/>
              </a:spcBef>
              <a:spcAft>
                <a:spcPts val="0"/>
              </a:spcAft>
              <a:buSzPct val="55000"/>
              <a:buChar char="●"/>
            </a:pPr>
            <a:r>
              <a:rPr lang="en-US" sz="8000"/>
              <a:t>Resistance to new technologies within certain healthcare institutions.</a:t>
            </a:r>
            <a:endParaRPr sz="8000"/>
          </a:p>
          <a:p>
            <a:pPr indent="-298450" lvl="0" marL="457200" rtl="0" algn="l">
              <a:spcBef>
                <a:spcPts val="0"/>
              </a:spcBef>
              <a:spcAft>
                <a:spcPts val="0"/>
              </a:spcAft>
              <a:buSzPct val="55000"/>
              <a:buChar char="●"/>
            </a:pPr>
            <a:r>
              <a:rPr lang="en-US" sz="8000"/>
              <a:t>Need for ongoing software updates to maintain optimal functionality.</a:t>
            </a:r>
            <a:endParaRPr sz="8000"/>
          </a:p>
          <a:p>
            <a:pPr indent="0" lvl="0" marL="457200" rtl="0" algn="l">
              <a:spcBef>
                <a:spcPts val="480"/>
              </a:spcBef>
              <a:spcAft>
                <a:spcPts val="0"/>
              </a:spcAft>
              <a:buNone/>
            </a:pPr>
            <a:r>
              <a:t/>
            </a:r>
            <a:endParaRPr sz="8000"/>
          </a:p>
          <a:p>
            <a:pPr indent="0" lvl="0" marL="457200" rtl="0" algn="l">
              <a:spcBef>
                <a:spcPts val="480"/>
              </a:spcBef>
              <a:spcAft>
                <a:spcPts val="0"/>
              </a:spcAft>
              <a:buNone/>
            </a:pPr>
            <a:r>
              <a:t/>
            </a:r>
            <a:endParaRPr sz="8000"/>
          </a:p>
          <a:p>
            <a:pPr indent="0" lvl="0" marL="342900" rtl="0" algn="l">
              <a:spcBef>
                <a:spcPts val="480"/>
              </a:spcBef>
              <a:spcAft>
                <a:spcPts val="0"/>
              </a:spcAft>
              <a:buNone/>
            </a:pPr>
            <a:r>
              <a:t/>
            </a:r>
            <a:endParaRPr sz="8000"/>
          </a:p>
          <a:p>
            <a:pPr indent="0" lvl="0" marL="457200" rtl="0" algn="l">
              <a:spcBef>
                <a:spcPts val="480"/>
              </a:spcBef>
              <a:spcAft>
                <a:spcPts val="0"/>
              </a:spcAft>
              <a:buClr>
                <a:schemeClr val="dk1"/>
              </a:buClr>
              <a:buSzPct val="45833"/>
              <a:buFont typeface="Arial"/>
              <a:buNone/>
            </a:pPr>
            <a:r>
              <a:t/>
            </a:r>
            <a:endParaRPr/>
          </a:p>
          <a:p>
            <a:pPr indent="0" lvl="0" marL="457200" rtl="0" algn="l">
              <a:spcBef>
                <a:spcPts val="480"/>
              </a:spcBef>
              <a:spcAft>
                <a:spcPts val="0"/>
              </a:spcAft>
              <a:buNone/>
            </a:pPr>
            <a:r>
              <a:t/>
            </a:r>
            <a:endParaRPr/>
          </a:p>
          <a:p>
            <a:pPr indent="0" lvl="0" marL="457200" rtl="0" algn="l">
              <a:spcBef>
                <a:spcPts val="48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40" name="Google Shape;140;p1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77500"/>
          </a:bodyPr>
          <a:lstStyle/>
          <a:p>
            <a:pPr indent="0" lvl="0" marL="0" rtl="0" algn="l">
              <a:spcBef>
                <a:spcPts val="0"/>
              </a:spcBef>
              <a:spcAft>
                <a:spcPts val="0"/>
              </a:spcAft>
              <a:buClr>
                <a:schemeClr val="dk1"/>
              </a:buClr>
              <a:buSzPct val="45833"/>
              <a:buFont typeface="Arial"/>
              <a:buNone/>
            </a:pPr>
            <a:r>
              <a:t/>
            </a:r>
            <a:endParaRPr/>
          </a:p>
          <a:p>
            <a:pPr indent="-297497" lvl="0" marL="457200" rtl="0" algn="l">
              <a:spcBef>
                <a:spcPts val="0"/>
              </a:spcBef>
              <a:spcAft>
                <a:spcPts val="0"/>
              </a:spcAft>
              <a:buSzPct val="58333"/>
              <a:buChar char="●"/>
            </a:pPr>
            <a:r>
              <a:rPr lang="en-US"/>
              <a:t>Automate BMI Calculations: Streamline the process of calculating BMI by automating data entry into an online BMI calculator using UiPath RPA technology.  </a:t>
            </a:r>
            <a:endParaRPr/>
          </a:p>
          <a:p>
            <a:pPr indent="0" lvl="0" marL="342900" rtl="0" algn="l">
              <a:spcBef>
                <a:spcPts val="0"/>
              </a:spcBef>
              <a:spcAft>
                <a:spcPts val="0"/>
              </a:spcAft>
              <a:buClr>
                <a:schemeClr val="dk1"/>
              </a:buClr>
              <a:buSzPct val="45833"/>
              <a:buFont typeface="Arial"/>
              <a:buNone/>
            </a:pPr>
            <a:r>
              <a:t/>
            </a:r>
            <a:endParaRPr/>
          </a:p>
          <a:p>
            <a:pPr indent="-297497" lvl="0" marL="457200" rtl="0" algn="l">
              <a:spcBef>
                <a:spcPts val="0"/>
              </a:spcBef>
              <a:spcAft>
                <a:spcPts val="0"/>
              </a:spcAft>
              <a:buSzPct val="58333"/>
              <a:buChar char="●"/>
            </a:pPr>
            <a:r>
              <a:rPr lang="en-US"/>
              <a:t> Enhance Accuracy and Consistency: Eliminate manual errors and ensure precise, reliable BMI evaluations through automated data processing.  </a:t>
            </a:r>
            <a:endParaRPr/>
          </a:p>
          <a:p>
            <a:pPr indent="0" lvl="0" marL="342900" rtl="0" algn="l">
              <a:spcBef>
                <a:spcPts val="0"/>
              </a:spcBef>
              <a:spcAft>
                <a:spcPts val="0"/>
              </a:spcAft>
              <a:buClr>
                <a:schemeClr val="dk1"/>
              </a:buClr>
              <a:buSzPct val="45833"/>
              <a:buFont typeface="Arial"/>
              <a:buNone/>
            </a:pPr>
            <a:r>
              <a:t/>
            </a:r>
            <a:endParaRPr/>
          </a:p>
          <a:p>
            <a:pPr indent="-297497" lvl="0" marL="457200" rtl="0" algn="l">
              <a:spcBef>
                <a:spcPts val="0"/>
              </a:spcBef>
              <a:spcAft>
                <a:spcPts val="0"/>
              </a:spcAft>
              <a:buSzPct val="58333"/>
              <a:buChar char="●"/>
            </a:pPr>
            <a:r>
              <a:rPr lang="en-US"/>
              <a:t> Simplify Data Management: Update the original Excel file with BMI results and classifications for efficient handling of patient records.  </a:t>
            </a:r>
            <a:endParaRPr/>
          </a:p>
          <a:p>
            <a:pPr indent="0" lvl="0" marL="342900" rtl="0" algn="l">
              <a:spcBef>
                <a:spcPts val="0"/>
              </a:spcBef>
              <a:spcAft>
                <a:spcPts val="0"/>
              </a:spcAft>
              <a:buClr>
                <a:schemeClr val="dk1"/>
              </a:buClr>
              <a:buSzPct val="45833"/>
              <a:buFont typeface="Arial"/>
              <a:buNone/>
            </a:pPr>
            <a:r>
              <a:t/>
            </a:r>
            <a:endParaRPr/>
          </a:p>
          <a:p>
            <a:pPr indent="-297497" lvl="0" marL="457200" rtl="0" algn="l">
              <a:spcBef>
                <a:spcPts val="0"/>
              </a:spcBef>
              <a:spcAft>
                <a:spcPts val="0"/>
              </a:spcAft>
              <a:buSzPct val="58333"/>
              <a:buChar char="●"/>
            </a:pPr>
            <a:r>
              <a:rPr lang="en-US"/>
              <a:t> Enable Scalable Solutions: Support large-scale health assessments by providing a robust and automated framework for BMI calculations.  </a:t>
            </a:r>
            <a:endParaRPr/>
          </a:p>
          <a:p>
            <a:pPr indent="0" lvl="0" marL="342900" rtl="0" algn="l">
              <a:spcBef>
                <a:spcPts val="0"/>
              </a:spcBef>
              <a:spcAft>
                <a:spcPts val="0"/>
              </a:spcAft>
              <a:buClr>
                <a:schemeClr val="dk1"/>
              </a:buClr>
              <a:buSzPct val="45833"/>
              <a:buFont typeface="Arial"/>
              <a:buNone/>
            </a:pPr>
            <a:r>
              <a:t/>
            </a:r>
            <a:endParaRPr/>
          </a:p>
          <a:p>
            <a:pPr indent="-297497" lvl="0" marL="457200" rtl="0" algn="l">
              <a:spcBef>
                <a:spcPts val="0"/>
              </a:spcBef>
              <a:spcAft>
                <a:spcPts val="0"/>
              </a:spcAft>
              <a:buSzPct val="58333"/>
              <a:buChar char="●"/>
            </a:pPr>
            <a:r>
              <a:rPr lang="en-US"/>
              <a:t> Support Healthcare Decision-Making: Deliver quick and categorized BMI insights to aid healthcare professionals in monitoring and managing patient health effectively.  </a:t>
            </a:r>
            <a:endParaRPr/>
          </a:p>
          <a:p>
            <a:pPr indent="0" lvl="0" marL="342900" rtl="0" algn="l">
              <a:lnSpc>
                <a:spcPct val="114000"/>
              </a:lnSpc>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pic>
        <p:nvPicPr>
          <p:cNvPr id="147" name="Google Shape;147;p20"/>
          <p:cNvPicPr preferRelativeResize="0"/>
          <p:nvPr/>
        </p:nvPicPr>
        <p:blipFill rotWithShape="1">
          <a:blip r:embed="rId3">
            <a:alphaModFix/>
          </a:blip>
          <a:srcRect b="5859" l="-1360" r="1359" t="-1608"/>
          <a:stretch/>
        </p:blipFill>
        <p:spPr>
          <a:xfrm>
            <a:off x="2288075" y="914400"/>
            <a:ext cx="4567850" cy="5172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54" name="Google Shape;154;p21"/>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14000"/>
              </a:lnSpc>
              <a:spcBef>
                <a:spcPts val="0"/>
              </a:spcBef>
              <a:spcAft>
                <a:spcPts val="0"/>
              </a:spcAft>
              <a:buClr>
                <a:schemeClr val="dk1"/>
              </a:buClr>
              <a:buSzPts val="2400"/>
              <a:buFont typeface="Noto Sans Symbols"/>
              <a:buChar char="▪"/>
            </a:pPr>
            <a:r>
              <a:rPr b="1" lang="en-US"/>
              <a:t>Hardware</a:t>
            </a:r>
            <a:br>
              <a:rPr lang="en-US"/>
            </a:br>
            <a:r>
              <a:rPr b="1" lang="en-US" sz="2000"/>
              <a:t>Processor</a:t>
            </a:r>
            <a:r>
              <a:rPr lang="en-US" sz="2000"/>
              <a:t>: Intel i5 or higher (or AMD equivalent) for smooth operation.</a:t>
            </a:r>
            <a:endParaRPr sz="2000"/>
          </a:p>
          <a:p>
            <a:pPr indent="0" lvl="0" marL="342900" rtl="0" algn="l">
              <a:spcBef>
                <a:spcPts val="0"/>
              </a:spcBef>
              <a:spcAft>
                <a:spcPts val="0"/>
              </a:spcAft>
              <a:buNone/>
            </a:pPr>
            <a:r>
              <a:rPr b="1" lang="en-US" sz="2000"/>
              <a:t>RAM</a:t>
            </a:r>
            <a:r>
              <a:rPr lang="en-US" sz="2000"/>
              <a:t>: Minimum 8 GB to support UiPath and Excel activities efficiently.</a:t>
            </a:r>
            <a:endParaRPr sz="2000"/>
          </a:p>
          <a:p>
            <a:pPr indent="0" lvl="0" marL="342900" rtl="0" algn="l">
              <a:spcBef>
                <a:spcPts val="0"/>
              </a:spcBef>
              <a:spcAft>
                <a:spcPts val="0"/>
              </a:spcAft>
              <a:buNone/>
            </a:pPr>
            <a:r>
              <a:rPr b="1" lang="en-US" sz="2000"/>
              <a:t>Storage</a:t>
            </a:r>
            <a:r>
              <a:rPr lang="en-US" sz="2000"/>
              <a:t>: 10 GB of free disk space for project files and logs.</a:t>
            </a:r>
            <a:endParaRPr sz="2000"/>
          </a:p>
          <a:p>
            <a:pPr indent="0" lvl="0" marL="342900" rtl="0" algn="l">
              <a:spcBef>
                <a:spcPts val="0"/>
              </a:spcBef>
              <a:spcAft>
                <a:spcPts val="0"/>
              </a:spcAft>
              <a:buClr>
                <a:schemeClr val="dk1"/>
              </a:buClr>
              <a:buSzPts val="1100"/>
              <a:buFont typeface="Arial"/>
              <a:buNone/>
            </a:pPr>
            <a:r>
              <a:rPr b="1" lang="en-US" sz="2000"/>
              <a:t>Display</a:t>
            </a:r>
            <a:r>
              <a:rPr lang="en-US" sz="2000"/>
              <a:t>: Screen resolution of 1366x768 or higher for better UI interaction.</a:t>
            </a:r>
            <a:endParaRPr sz="2000"/>
          </a:p>
          <a:p>
            <a:pPr indent="0" lvl="0" marL="342900" rtl="0" algn="l">
              <a:spcBef>
                <a:spcPts val="0"/>
              </a:spcBef>
              <a:spcAft>
                <a:spcPts val="0"/>
              </a:spcAft>
              <a:buNone/>
            </a:pPr>
            <a:r>
              <a:rPr b="1" lang="en-US" sz="2000"/>
              <a:t>Internet</a:t>
            </a:r>
            <a:r>
              <a:rPr lang="en-US" sz="2000"/>
              <a:t>: Stable broadband connection for accessing the online BMI calculator.</a:t>
            </a:r>
            <a:endParaRPr sz="2000"/>
          </a:p>
          <a:p>
            <a:pPr indent="0" lvl="0" marL="342900" rtl="0" algn="l">
              <a:spcBef>
                <a:spcPts val="0"/>
              </a:spcBef>
              <a:spcAft>
                <a:spcPts val="0"/>
              </a:spcAft>
              <a:buNone/>
            </a:pPr>
            <a:r>
              <a:t/>
            </a:r>
            <a:endParaRPr sz="2000"/>
          </a:p>
          <a:p>
            <a:pPr indent="-342900" lvl="0" marL="342900" rtl="0" algn="l">
              <a:lnSpc>
                <a:spcPct val="114000"/>
              </a:lnSpc>
              <a:spcBef>
                <a:spcPts val="480"/>
              </a:spcBef>
              <a:spcAft>
                <a:spcPts val="0"/>
              </a:spcAft>
              <a:buClr>
                <a:schemeClr val="dk1"/>
              </a:buClr>
              <a:buSzPts val="2400"/>
              <a:buFont typeface="Calibri"/>
              <a:buChar char="▪"/>
            </a:pPr>
            <a:r>
              <a:rPr b="1" lang="en-US"/>
              <a:t>Software</a:t>
            </a:r>
            <a:endParaRPr b="1"/>
          </a:p>
          <a:p>
            <a:pPr indent="0" lvl="0" marL="342900" rtl="0" algn="l">
              <a:spcBef>
                <a:spcPts val="480"/>
              </a:spcBef>
              <a:spcAft>
                <a:spcPts val="0"/>
              </a:spcAft>
              <a:buNone/>
            </a:pPr>
            <a:r>
              <a:rPr b="1" lang="en-US" sz="2000"/>
              <a:t>Automation Tool</a:t>
            </a:r>
            <a:r>
              <a:rPr lang="en-US" sz="2000"/>
              <a:t>: UiPath Studio (Community or Enterprise Edition).</a:t>
            </a:r>
            <a:endParaRPr sz="2000"/>
          </a:p>
          <a:p>
            <a:pPr indent="0" lvl="0" marL="342900" rtl="0" algn="l">
              <a:spcBef>
                <a:spcPts val="480"/>
              </a:spcBef>
              <a:spcAft>
                <a:spcPts val="0"/>
              </a:spcAft>
              <a:buNone/>
            </a:pPr>
            <a:r>
              <a:rPr b="1" lang="en-US" sz="2000"/>
              <a:t>Browser</a:t>
            </a:r>
            <a:r>
              <a:rPr lang="en-US" sz="2000"/>
              <a:t>: Google Chrome or Microsoft Edge with UiPath extensions.</a:t>
            </a:r>
            <a:endParaRPr sz="2000"/>
          </a:p>
          <a:p>
            <a:pPr indent="0" lvl="0" marL="342900" rtl="0" algn="l">
              <a:spcBef>
                <a:spcPts val="480"/>
              </a:spcBef>
              <a:spcAft>
                <a:spcPts val="0"/>
              </a:spcAft>
              <a:buNone/>
            </a:pPr>
            <a:r>
              <a:rPr b="1" lang="en-US" sz="2000"/>
              <a:t>Office Suite</a:t>
            </a:r>
            <a:r>
              <a:rPr lang="en-US" sz="2000"/>
              <a:t>: Microsoft Excel (2016 or later) for handling input and output files.</a:t>
            </a:r>
            <a:endParaRPr sz="2000"/>
          </a:p>
          <a:p>
            <a:pPr indent="0" lvl="0" marL="342900" rtl="0" algn="l">
              <a:spcBef>
                <a:spcPts val="480"/>
              </a:spcBef>
              <a:spcAft>
                <a:spcPts val="0"/>
              </a:spcAft>
              <a:buNone/>
            </a:pPr>
            <a:r>
              <a:rPr b="1" lang="en-US" sz="2000"/>
              <a:t>UiPath Packages</a:t>
            </a:r>
            <a:r>
              <a:rPr lang="en-US" sz="2000"/>
              <a:t>: Essential libraries like UiPath.Excel.Activities and UiPath.UIAutomation.Activities.</a:t>
            </a:r>
            <a:endParaRPr sz="2000"/>
          </a:p>
          <a:p>
            <a:pPr indent="0" lvl="0" marL="342900" rtl="0" algn="l">
              <a:lnSpc>
                <a:spcPct val="114000"/>
              </a:lnSpc>
              <a:spcBef>
                <a:spcPts val="480"/>
              </a:spcBef>
              <a:spcAft>
                <a:spcPts val="0"/>
              </a:spcAft>
              <a:buNone/>
            </a:pPr>
            <a:r>
              <a:t/>
            </a:r>
            <a:endParaRPr/>
          </a:p>
          <a:p>
            <a:pPr indent="0" lvl="0" marL="342900" rtl="0" algn="l">
              <a:lnSpc>
                <a:spcPct val="114000"/>
              </a:lnSpc>
              <a:spcBef>
                <a:spcPts val="48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61" name="Google Shape;161;p2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40000" lnSpcReduction="20000"/>
          </a:bodyPr>
          <a:lstStyle/>
          <a:p>
            <a:pPr indent="-297180" lvl="0" marL="342900" marR="476250" rtl="0" algn="l">
              <a:lnSpc>
                <a:spcPct val="100000"/>
              </a:lnSpc>
              <a:spcBef>
                <a:spcPts val="0"/>
              </a:spcBef>
              <a:spcAft>
                <a:spcPts val="0"/>
              </a:spcAft>
              <a:buSzPct val="100000"/>
              <a:buFont typeface="Calibri"/>
              <a:buChar char="▪"/>
            </a:pPr>
            <a:r>
              <a:rPr b="1" lang="en-US" sz="4200"/>
              <a:t>Input Handling And Initialization</a:t>
            </a:r>
            <a:endParaRPr sz="4200"/>
          </a:p>
          <a:p>
            <a:pPr indent="0" lvl="0" marL="742950" rtl="0" algn="l">
              <a:spcBef>
                <a:spcPts val="480"/>
              </a:spcBef>
              <a:spcAft>
                <a:spcPts val="0"/>
              </a:spcAft>
              <a:buNone/>
            </a:pPr>
            <a:r>
              <a:rPr lang="en-US" sz="4200"/>
              <a:t>1. Excel File Selection: Accept user input to select the Excel file containing patient details.  </a:t>
            </a:r>
            <a:endParaRPr sz="4200"/>
          </a:p>
          <a:p>
            <a:pPr indent="0" lvl="0" marL="742950" rtl="0" algn="l">
              <a:spcBef>
                <a:spcPts val="480"/>
              </a:spcBef>
              <a:spcAft>
                <a:spcPts val="0"/>
              </a:spcAft>
              <a:buNone/>
            </a:pPr>
            <a:r>
              <a:rPr lang="en-US" sz="4200"/>
              <a:t>2. Data Extraction: Parse and validate patient details (age, weight, height) from the selected Excel file.  </a:t>
            </a:r>
            <a:endParaRPr sz="4200"/>
          </a:p>
          <a:p>
            <a:pPr indent="0" lvl="0" marL="742950" rtl="0" algn="l">
              <a:spcBef>
                <a:spcPts val="480"/>
              </a:spcBef>
              <a:spcAft>
                <a:spcPts val="0"/>
              </a:spcAft>
              <a:buNone/>
            </a:pPr>
            <a:r>
              <a:rPr lang="en-US" sz="4200"/>
              <a:t>3. Result File Creation: Automatically generate an output Excel file in the same directory, including BMI values and classifications (e.g., underweight, normal, overweight).  </a:t>
            </a:r>
            <a:endParaRPr sz="4200"/>
          </a:p>
          <a:p>
            <a:pPr indent="-297180" lvl="0" marL="342900" rtl="0" algn="l">
              <a:lnSpc>
                <a:spcPct val="114000"/>
              </a:lnSpc>
              <a:spcBef>
                <a:spcPts val="480"/>
              </a:spcBef>
              <a:spcAft>
                <a:spcPts val="0"/>
              </a:spcAft>
              <a:buClr>
                <a:schemeClr val="dk1"/>
              </a:buClr>
              <a:buSzPct val="100000"/>
              <a:buChar char="▪"/>
            </a:pPr>
            <a:r>
              <a:rPr b="1" lang="en-US" sz="4200"/>
              <a:t>Content Analysis</a:t>
            </a:r>
            <a:endParaRPr b="1" sz="4200"/>
          </a:p>
          <a:p>
            <a:pPr indent="0" lvl="0" marL="742950" rtl="0" algn="just">
              <a:spcBef>
                <a:spcPts val="480"/>
              </a:spcBef>
              <a:spcAft>
                <a:spcPts val="0"/>
              </a:spcAft>
              <a:buNone/>
            </a:pPr>
            <a:r>
              <a:rPr lang="en-US" sz="4200"/>
              <a:t>1. BMI Calculation: Process each row in the Excel file to extract weight, height, and age, then compute BMI using the formula: BMI = weight (kg) / height² (m²). </a:t>
            </a:r>
            <a:endParaRPr sz="4200"/>
          </a:p>
          <a:p>
            <a:pPr indent="0" lvl="0" marL="742950" rtl="0" algn="just">
              <a:spcBef>
                <a:spcPts val="480"/>
              </a:spcBef>
              <a:spcAft>
                <a:spcPts val="0"/>
              </a:spcAft>
              <a:buNone/>
            </a:pPr>
            <a:r>
              <a:rPr lang="en-US" sz="4200"/>
              <a:t>2. Result Categorization: Classify BMI values into standard health categories (e.g., underweight, normal, overweight, obese).</a:t>
            </a:r>
            <a:endParaRPr sz="4200"/>
          </a:p>
          <a:p>
            <a:pPr indent="-303530" lvl="0" marL="457200" marR="476250" rtl="0" algn="l">
              <a:lnSpc>
                <a:spcPct val="145833"/>
              </a:lnSpc>
              <a:spcBef>
                <a:spcPts val="810"/>
              </a:spcBef>
              <a:spcAft>
                <a:spcPts val="0"/>
              </a:spcAft>
              <a:buSzPct val="70238"/>
              <a:buFont typeface="Calibri"/>
              <a:buChar char="■"/>
            </a:pPr>
            <a:r>
              <a:rPr b="1" lang="en-US" sz="4200"/>
              <a:t> Result Management</a:t>
            </a:r>
            <a:endParaRPr b="1" sz="4200"/>
          </a:p>
          <a:p>
            <a:pPr indent="-303530" lvl="0" marL="457200" marR="476250" rtl="0" algn="l">
              <a:lnSpc>
                <a:spcPct val="145833"/>
              </a:lnSpc>
              <a:spcBef>
                <a:spcPts val="810"/>
              </a:spcBef>
              <a:spcAft>
                <a:spcPts val="0"/>
              </a:spcAft>
              <a:buSzPct val="70238"/>
              <a:buChar char="■"/>
            </a:pPr>
            <a:r>
              <a:rPr b="1" lang="en-US" sz="4200"/>
              <a:t>Completion and Reporting</a:t>
            </a:r>
            <a:endParaRPr b="1" sz="4200"/>
          </a:p>
          <a:p>
            <a:pPr indent="0" lvl="0" marL="457200" marR="476250" rtl="0" algn="l">
              <a:lnSpc>
                <a:spcPct val="145833"/>
              </a:lnSpc>
              <a:spcBef>
                <a:spcPts val="810"/>
              </a:spcBef>
              <a:spcAft>
                <a:spcPts val="0"/>
              </a:spcAft>
              <a:buNone/>
            </a:pPr>
            <a:r>
              <a:t/>
            </a:r>
            <a:endParaRPr b="1" sz="2350"/>
          </a:p>
          <a:p>
            <a:pPr indent="0" lvl="0" marL="742950" rtl="0" algn="just">
              <a:spcBef>
                <a:spcPts val="480"/>
              </a:spcBef>
              <a:spcAft>
                <a:spcPts val="0"/>
              </a:spcAft>
              <a:buNone/>
            </a:pPr>
            <a:r>
              <a:t/>
            </a:r>
            <a:endParaRPr/>
          </a:p>
          <a:p>
            <a:pPr indent="0" lvl="0" marL="342900" rtl="0" algn="l">
              <a:spcBef>
                <a:spcPts val="480"/>
              </a:spcBef>
              <a:spcAft>
                <a:spcPts val="0"/>
              </a:spcAft>
              <a:buNone/>
            </a:pPr>
            <a:r>
              <a:t/>
            </a:r>
            <a:endParaRPr b="1"/>
          </a:p>
          <a:p>
            <a:pPr indent="0" lvl="0" marL="342900" rtl="0" algn="l">
              <a:lnSpc>
                <a:spcPct val="114000"/>
              </a:lnSpc>
              <a:spcBef>
                <a:spcPts val="480"/>
              </a:spcBef>
              <a:spcAft>
                <a:spcPts val="0"/>
              </a:spcAft>
              <a:buNone/>
            </a:pPr>
            <a:r>
              <a:t/>
            </a:r>
            <a:endParaRPr b="1"/>
          </a:p>
          <a:p>
            <a:pPr indent="0" lvl="0" marL="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Data Flow Diagram</a:t>
            </a:r>
            <a:endParaRPr>
              <a:latin typeface="Calibri"/>
              <a:ea typeface="Calibri"/>
              <a:cs typeface="Calibri"/>
              <a:sym typeface="Calibri"/>
            </a:endParaRPr>
          </a:p>
        </p:txBody>
      </p:sp>
      <p:pic>
        <p:nvPicPr>
          <p:cNvPr id="168" name="Google Shape;168;p23"/>
          <p:cNvPicPr preferRelativeResize="0"/>
          <p:nvPr/>
        </p:nvPicPr>
        <p:blipFill rotWithShape="1">
          <a:blip r:embed="rId3">
            <a:alphaModFix/>
          </a:blip>
          <a:srcRect b="3790" l="0" r="0" t="0"/>
          <a:stretch/>
        </p:blipFill>
        <p:spPr>
          <a:xfrm>
            <a:off x="2563825" y="914400"/>
            <a:ext cx="3503275" cy="5324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Sequence Diagram</a:t>
            </a:r>
            <a:endParaRPr/>
          </a:p>
        </p:txBody>
      </p:sp>
      <p:pic>
        <p:nvPicPr>
          <p:cNvPr id="175" name="Google Shape;175;p24"/>
          <p:cNvPicPr preferRelativeResize="0"/>
          <p:nvPr/>
        </p:nvPicPr>
        <p:blipFill rotWithShape="1">
          <a:blip r:embed="rId3">
            <a:alphaModFix/>
          </a:blip>
          <a:srcRect b="6785" l="2016" r="1958" t="0"/>
          <a:stretch/>
        </p:blipFill>
        <p:spPr>
          <a:xfrm>
            <a:off x="880300" y="1196688"/>
            <a:ext cx="7277350" cy="4464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pic>
        <p:nvPicPr>
          <p:cNvPr id="182" name="Google Shape;182;p25"/>
          <p:cNvPicPr preferRelativeResize="0"/>
          <p:nvPr/>
        </p:nvPicPr>
        <p:blipFill>
          <a:blip r:embed="rId3">
            <a:alphaModFix/>
          </a:blip>
          <a:stretch>
            <a:fillRect/>
          </a:stretch>
        </p:blipFill>
        <p:spPr>
          <a:xfrm>
            <a:off x="546475" y="1465381"/>
            <a:ext cx="8051051" cy="422116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89" name="Google Shape;189;p26"/>
          <p:cNvSpPr txBox="1"/>
          <p:nvPr>
            <p:ph idx="1" type="body"/>
          </p:nvPr>
        </p:nvSpPr>
        <p:spPr>
          <a:xfrm>
            <a:off x="190500" y="11639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rPr lang="en-US"/>
              <a:t>"The Smart BMI Calculator Bot" transforms healthcare automation by using UiPath RPA to streamline BMI calculations and patient data management. It ensures efficiency, accuracy, and consistency while providing real-time updates and systematic documentation in Excel reports. By automating repetitive tasks, the bot allows healthcare professionals to focus on personalized care. Although challenges like inconsistent input data remain, ongoing improvements can enhance its adaptability. This project establishes a strong foundation for healthcare automation, advancing efficiency and precision in patient data processing.</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196" name="Google Shape;196;p27"/>
          <p:cNvSpPr txBox="1"/>
          <p:nvPr>
            <p:ph idx="1" type="body"/>
          </p:nvPr>
        </p:nvSpPr>
        <p:spPr>
          <a:xfrm>
            <a:off x="190500" y="1524000"/>
            <a:ext cx="8763000" cy="5334000"/>
          </a:xfrm>
          <a:prstGeom prst="rect">
            <a:avLst/>
          </a:prstGeom>
          <a:noFill/>
          <a:ln>
            <a:noFill/>
          </a:ln>
        </p:spPr>
        <p:txBody>
          <a:bodyPr anchorCtr="0" anchor="t" bIns="45700" lIns="91425" spcFirstLastPara="1" rIns="91425" wrap="square" tIns="45700">
            <a:normAutofit/>
          </a:bodyPr>
          <a:lstStyle/>
          <a:p>
            <a:pPr indent="-330200" lvl="0" marL="342900" rtl="0" algn="l">
              <a:lnSpc>
                <a:spcPct val="114000"/>
              </a:lnSpc>
              <a:spcBef>
                <a:spcPts val="0"/>
              </a:spcBef>
              <a:spcAft>
                <a:spcPts val="0"/>
              </a:spcAft>
              <a:buClr>
                <a:schemeClr val="dk1"/>
              </a:buClr>
              <a:buSzPts val="2200"/>
              <a:buFont typeface="Noto Sans Symbols"/>
              <a:buChar char="▪"/>
            </a:pPr>
            <a:r>
              <a:rPr b="1" lang="en-US" sz="2200">
                <a:latin typeface="Arial"/>
                <a:ea typeface="Arial"/>
                <a:cs typeface="Arial"/>
                <a:sym typeface="Arial"/>
              </a:rPr>
              <a:t>Integration with Electronic Health Records (EHRs)</a:t>
            </a:r>
            <a:r>
              <a:rPr lang="en-US" sz="2200">
                <a:latin typeface="Arial"/>
                <a:ea typeface="Arial"/>
                <a:cs typeface="Arial"/>
                <a:sym typeface="Arial"/>
              </a:rPr>
              <a:t>: Connect the bot with EHR systems for seamless data exchange and enhanced patient management.</a:t>
            </a:r>
            <a:endParaRPr sz="2200"/>
          </a:p>
          <a:p>
            <a:pPr indent="-330200" lvl="0" marL="342900" rtl="0" algn="l">
              <a:lnSpc>
                <a:spcPct val="114000"/>
              </a:lnSpc>
              <a:spcBef>
                <a:spcPts val="480"/>
              </a:spcBef>
              <a:spcAft>
                <a:spcPts val="0"/>
              </a:spcAft>
              <a:buClr>
                <a:schemeClr val="dk1"/>
              </a:buClr>
              <a:buSzPts val="2200"/>
              <a:buFont typeface="Noto Sans Symbols"/>
              <a:buChar char="▪"/>
            </a:pPr>
            <a:r>
              <a:rPr b="1" lang="en-US" sz="2200">
                <a:latin typeface="Arial"/>
                <a:ea typeface="Arial"/>
                <a:cs typeface="Arial"/>
                <a:sym typeface="Arial"/>
              </a:rPr>
              <a:t>Enhanced Reporting</a:t>
            </a:r>
            <a:r>
              <a:rPr lang="en-US" sz="2200">
                <a:latin typeface="Arial"/>
                <a:ea typeface="Arial"/>
                <a:cs typeface="Arial"/>
                <a:sym typeface="Arial"/>
              </a:rPr>
              <a:t>: Generate detailed reports with graphical representations of BMI trends and classifications.</a:t>
            </a:r>
            <a:endParaRPr sz="2200">
              <a:latin typeface="Arial"/>
              <a:ea typeface="Arial"/>
              <a:cs typeface="Arial"/>
              <a:sym typeface="Arial"/>
            </a:endParaRPr>
          </a:p>
          <a:p>
            <a:pPr indent="-330200" lvl="0" marL="342900" rtl="0" algn="l">
              <a:lnSpc>
                <a:spcPct val="114000"/>
              </a:lnSpc>
              <a:spcBef>
                <a:spcPts val="480"/>
              </a:spcBef>
              <a:spcAft>
                <a:spcPts val="0"/>
              </a:spcAft>
              <a:buSzPts val="2200"/>
              <a:buFont typeface="Arial"/>
              <a:buChar char="▪"/>
            </a:pPr>
            <a:r>
              <a:rPr b="1" lang="en-US" sz="2200">
                <a:latin typeface="Arial"/>
                <a:ea typeface="Arial"/>
                <a:cs typeface="Arial"/>
                <a:sym typeface="Arial"/>
              </a:rPr>
              <a:t>AI-Powered Insights</a:t>
            </a:r>
            <a:r>
              <a:rPr lang="en-US" sz="2200">
                <a:latin typeface="Arial"/>
                <a:ea typeface="Arial"/>
                <a:cs typeface="Arial"/>
                <a:sym typeface="Arial"/>
              </a:rPr>
              <a:t>: Incorporate AI models to provide additional health insights, such as risk assessments based on BMI trends.</a:t>
            </a:r>
            <a:endParaRPr sz="2200">
              <a:latin typeface="Arial"/>
              <a:ea typeface="Arial"/>
              <a:cs typeface="Arial"/>
              <a:sym typeface="Arial"/>
            </a:endParaRPr>
          </a:p>
          <a:p>
            <a:pPr indent="-190500" lvl="0" marL="342900" rtl="0" algn="l">
              <a:lnSpc>
                <a:spcPct val="114000"/>
              </a:lnSpc>
              <a:spcBef>
                <a:spcPts val="480"/>
              </a:spcBef>
              <a:spcAft>
                <a:spcPts val="0"/>
              </a:spcAft>
              <a:buClr>
                <a:schemeClr val="dk1"/>
              </a:buClr>
              <a:buSzPts val="2400"/>
              <a:buFont typeface="Noto Sans Symbols"/>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IEEE Paper</a:t>
            </a:r>
            <a:endParaRPr>
              <a:latin typeface="Calibri"/>
              <a:ea typeface="Calibri"/>
              <a:cs typeface="Calibri"/>
              <a:sym typeface="Calibri"/>
            </a:endParaRPr>
          </a:p>
        </p:txBody>
      </p:sp>
      <p:sp>
        <p:nvSpPr>
          <p:cNvPr id="203" name="Google Shape;203;p28"/>
          <p:cNvSpPr txBox="1"/>
          <p:nvPr>
            <p:ph idx="1" type="body"/>
          </p:nvPr>
        </p:nvSpPr>
        <p:spPr>
          <a:xfrm>
            <a:off x="190500" y="1807625"/>
            <a:ext cx="8763000" cy="5334000"/>
          </a:xfrm>
          <a:prstGeom prst="rect">
            <a:avLst/>
          </a:prstGeom>
          <a:noFill/>
          <a:ln>
            <a:noFill/>
          </a:ln>
        </p:spPr>
        <p:txBody>
          <a:bodyPr anchorCtr="0" anchor="t" bIns="45700" lIns="91425" spcFirstLastPara="1" rIns="91425" wrap="square" tIns="45700">
            <a:normAutofit/>
          </a:bodyPr>
          <a:lstStyle/>
          <a:p>
            <a:pPr indent="-330200" lvl="0" marL="342900" rtl="0" algn="l">
              <a:lnSpc>
                <a:spcPct val="114000"/>
              </a:lnSpc>
              <a:spcBef>
                <a:spcPts val="0"/>
              </a:spcBef>
              <a:spcAft>
                <a:spcPts val="0"/>
              </a:spcAft>
              <a:buClr>
                <a:schemeClr val="dk1"/>
              </a:buClr>
              <a:buSzPts val="2200"/>
              <a:buFont typeface="Noto Sans Symbols"/>
              <a:buChar char="▪"/>
            </a:pPr>
            <a:r>
              <a:rPr b="1" lang="en-US" sz="2200">
                <a:latin typeface="Arial"/>
                <a:ea typeface="Arial"/>
                <a:cs typeface="Arial"/>
                <a:sym typeface="Arial"/>
              </a:rPr>
              <a:t>"Robotic Process Automation: A Scientific and Industrial Systematic Mapping Study"</a:t>
            </a:r>
            <a:r>
              <a:rPr lang="en-US" sz="2200">
                <a:latin typeface="Arial"/>
                <a:ea typeface="Arial"/>
                <a:cs typeface="Arial"/>
                <a:sym typeface="Arial"/>
              </a:rPr>
              <a:t> by S. Avasarala et al.</a:t>
            </a:r>
            <a:endParaRPr sz="2200">
              <a:latin typeface="Arial"/>
              <a:ea typeface="Arial"/>
              <a:cs typeface="Arial"/>
              <a:sym typeface="Arial"/>
            </a:endParaRPr>
          </a:p>
          <a:p>
            <a:pPr indent="0" lvl="0" marL="0" rtl="0" algn="l">
              <a:lnSpc>
                <a:spcPct val="114000"/>
              </a:lnSpc>
              <a:spcBef>
                <a:spcPts val="0"/>
              </a:spcBef>
              <a:spcAft>
                <a:spcPts val="0"/>
              </a:spcAft>
              <a:buNone/>
            </a:pPr>
            <a:r>
              <a:t/>
            </a:r>
            <a:endParaRPr sz="2200">
              <a:latin typeface="Arial"/>
              <a:ea typeface="Arial"/>
              <a:cs typeface="Arial"/>
              <a:sym typeface="Arial"/>
            </a:endParaRPr>
          </a:p>
          <a:p>
            <a:pPr indent="-330200" lvl="0" marL="342900" rtl="0" algn="l">
              <a:lnSpc>
                <a:spcPct val="114000"/>
              </a:lnSpc>
              <a:spcBef>
                <a:spcPts val="480"/>
              </a:spcBef>
              <a:spcAft>
                <a:spcPts val="0"/>
              </a:spcAft>
              <a:buClr>
                <a:schemeClr val="dk1"/>
              </a:buClr>
              <a:buSzPts val="2200"/>
              <a:buFont typeface="Noto Sans Symbols"/>
              <a:buChar char="▪"/>
            </a:pPr>
            <a:r>
              <a:rPr b="1" lang="en-US" sz="2200">
                <a:latin typeface="Arial"/>
                <a:ea typeface="Arial"/>
                <a:cs typeface="Arial"/>
                <a:sym typeface="Arial"/>
              </a:rPr>
              <a:t>"Design of an IoT-based Body Mass Index (BMI) Prediction Model"</a:t>
            </a:r>
            <a:r>
              <a:rPr lang="en-US" sz="2200">
                <a:latin typeface="Arial"/>
                <a:ea typeface="Arial"/>
                <a:cs typeface="Arial"/>
                <a:sym typeface="Arial"/>
              </a:rPr>
              <a:t> by K. R. S. Prakash et al.</a:t>
            </a:r>
            <a:endParaRPr sz="2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10" name="Google Shape;210;p2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272732" lvl="0" marL="342900" marR="466090" rtl="0" algn="l">
              <a:lnSpc>
                <a:spcPct val="150833"/>
              </a:lnSpc>
              <a:spcBef>
                <a:spcPts val="1830"/>
              </a:spcBef>
              <a:spcAft>
                <a:spcPts val="0"/>
              </a:spcAft>
              <a:buSzPct val="100000"/>
              <a:buFont typeface="Times New Roman"/>
              <a:buChar char="▪"/>
            </a:pPr>
            <a:r>
              <a:rPr lang="en-US" sz="1400">
                <a:latin typeface="Times New Roman"/>
                <a:ea typeface="Times New Roman"/>
                <a:cs typeface="Times New Roman"/>
                <a:sym typeface="Times New Roman"/>
              </a:rPr>
              <a:t>Kaur, Harleen &amp; Kumar, Arun. (2020).</a:t>
            </a:r>
            <a:r>
              <a:rPr lang="en-US" sz="1400" u="sng">
                <a:latin typeface="Times New Roman"/>
                <a:ea typeface="Times New Roman"/>
                <a:cs typeface="Times New Roman"/>
                <a:sym typeface="Times New Roman"/>
              </a:rPr>
              <a:t> Robotic Process Automation in Healthcare: Transforming Patient Management Systems.</a:t>
            </a:r>
            <a:r>
              <a:rPr lang="en-US" sz="1400">
                <a:latin typeface="Times New Roman"/>
                <a:ea typeface="Times New Roman"/>
                <a:cs typeface="Times New Roman"/>
                <a:sym typeface="Times New Roman"/>
              </a:rPr>
              <a:t> International Journal of Healthcare Information Systems. 45(3), 215-222. </a:t>
            </a:r>
            <a:r>
              <a:rPr lang="en-US" sz="14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https://doi.org/10.1016/j.jhin.2020.06.012</a:t>
            </a:r>
            <a:endParaRPr sz="1400">
              <a:latin typeface="Times New Roman"/>
              <a:ea typeface="Times New Roman"/>
              <a:cs typeface="Times New Roman"/>
              <a:sym typeface="Times New Roman"/>
            </a:endParaRPr>
          </a:p>
          <a:p>
            <a:pPr indent="0" lvl="0" marL="0" rtl="0" algn="l">
              <a:lnSpc>
                <a:spcPct val="100000"/>
              </a:lnSpc>
              <a:spcBef>
                <a:spcPts val="775"/>
              </a:spcBef>
              <a:spcAft>
                <a:spcPts val="0"/>
              </a:spcAft>
              <a:buNone/>
            </a:pPr>
            <a:r>
              <a:t/>
            </a:r>
            <a:endParaRPr sz="1400">
              <a:latin typeface="Times New Roman"/>
              <a:ea typeface="Times New Roman"/>
              <a:cs typeface="Times New Roman"/>
              <a:sym typeface="Times New Roman"/>
            </a:endParaRPr>
          </a:p>
          <a:p>
            <a:pPr indent="-272732" lvl="0" marL="342900" marR="466090" rtl="0" algn="just">
              <a:lnSpc>
                <a:spcPct val="150000"/>
              </a:lnSpc>
              <a:spcBef>
                <a:spcPts val="0"/>
              </a:spcBef>
              <a:spcAft>
                <a:spcPts val="0"/>
              </a:spcAft>
              <a:buSzPct val="100000"/>
              <a:buFont typeface="Times New Roman"/>
              <a:buChar char="▪"/>
            </a:pPr>
            <a:r>
              <a:rPr lang="en-US" sz="1400">
                <a:latin typeface="Times New Roman"/>
                <a:ea typeface="Times New Roman"/>
                <a:cs typeface="Times New Roman"/>
                <a:sym typeface="Times New Roman"/>
              </a:rPr>
              <a:t>Gupta, Ramesh &amp; Sharma, Pooja. (2021). </a:t>
            </a:r>
            <a:r>
              <a:rPr lang="en-US" sz="1400" u="sng">
                <a:latin typeface="Times New Roman"/>
                <a:ea typeface="Times New Roman"/>
                <a:cs typeface="Times New Roman"/>
                <a:sym typeface="Times New Roman"/>
              </a:rPr>
              <a:t>Optimizing Health Metrics Using Automation and Data Analytics.</a:t>
            </a:r>
            <a:r>
              <a:rPr lang="en-US" sz="1400">
                <a:latin typeface="Times New Roman"/>
                <a:ea typeface="Times New Roman"/>
                <a:cs typeface="Times New Roman"/>
                <a:sym typeface="Times New Roman"/>
              </a:rPr>
              <a:t> Journal of Medical Informatics.9(4),312-319. </a:t>
            </a:r>
            <a:r>
              <a:rPr lang="en-US" sz="14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https://doi.org/10.1007/s12345-021-00987-4</a:t>
            </a:r>
            <a:endParaRPr sz="1400">
              <a:latin typeface="Times New Roman"/>
              <a:ea typeface="Times New Roman"/>
              <a:cs typeface="Times New Roman"/>
              <a:sym typeface="Times New Roman"/>
            </a:endParaRPr>
          </a:p>
          <a:p>
            <a:pPr indent="0" lvl="0" marL="0" rtl="0" algn="l">
              <a:lnSpc>
                <a:spcPct val="100000"/>
              </a:lnSpc>
              <a:spcBef>
                <a:spcPts val="805"/>
              </a:spcBef>
              <a:spcAft>
                <a:spcPts val="0"/>
              </a:spcAft>
              <a:buNone/>
            </a:pPr>
            <a:r>
              <a:t/>
            </a:r>
            <a:endParaRPr sz="1400">
              <a:latin typeface="Times New Roman"/>
              <a:ea typeface="Times New Roman"/>
              <a:cs typeface="Times New Roman"/>
              <a:sym typeface="Times New Roman"/>
            </a:endParaRPr>
          </a:p>
          <a:p>
            <a:pPr indent="-272732" lvl="0" marL="342900" marR="464185" rtl="0" algn="l">
              <a:lnSpc>
                <a:spcPct val="150000"/>
              </a:lnSpc>
              <a:spcBef>
                <a:spcPts val="0"/>
              </a:spcBef>
              <a:spcAft>
                <a:spcPts val="0"/>
              </a:spcAft>
              <a:buSzPct val="100000"/>
              <a:buFont typeface="Times New Roman"/>
              <a:buChar char="▪"/>
            </a:pPr>
            <a:r>
              <a:rPr lang="en-US" sz="1400">
                <a:latin typeface="Times New Roman"/>
                <a:ea typeface="Times New Roman"/>
                <a:cs typeface="Times New Roman"/>
                <a:sym typeface="Times New Roman"/>
              </a:rPr>
              <a:t>Patel, Vishal &amp; Kumar, Sanjay. (2022). </a:t>
            </a:r>
            <a:r>
              <a:rPr lang="en-US" sz="1400" u="sng">
                <a:latin typeface="Times New Roman"/>
                <a:ea typeface="Times New Roman"/>
                <a:cs typeface="Times New Roman"/>
                <a:sym typeface="Times New Roman"/>
              </a:rPr>
              <a:t>RPA Solutions for Streamlining Healthcare Operations: A Case Study on BMI Calculations.</a:t>
            </a:r>
            <a:r>
              <a:rPr lang="en-US" sz="1400">
                <a:latin typeface="Times New Roman"/>
                <a:ea typeface="Times New Roman"/>
                <a:cs typeface="Times New Roman"/>
                <a:sym typeface="Times New Roman"/>
              </a:rPr>
              <a:t> International Journal of Automation and Computing. 19(6), 845-857. </a:t>
            </a:r>
            <a:r>
              <a:rPr lang="en-US" sz="14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https://doi.org/10.1109/IJAC.2022.1001234</a:t>
            </a:r>
            <a:endParaRPr sz="1400">
              <a:latin typeface="Times New Roman"/>
              <a:ea typeface="Times New Roman"/>
              <a:cs typeface="Times New Roman"/>
              <a:sym typeface="Times New Roman"/>
            </a:endParaRPr>
          </a:p>
          <a:p>
            <a:pPr indent="0" lvl="0" marL="0" rtl="0" algn="l">
              <a:lnSpc>
                <a:spcPct val="100000"/>
              </a:lnSpc>
              <a:spcBef>
                <a:spcPts val="815"/>
              </a:spcBef>
              <a:spcAft>
                <a:spcPts val="0"/>
              </a:spcAft>
              <a:buNone/>
            </a:pPr>
            <a:r>
              <a:t/>
            </a:r>
            <a:endParaRPr sz="1400">
              <a:latin typeface="Times New Roman"/>
              <a:ea typeface="Times New Roman"/>
              <a:cs typeface="Times New Roman"/>
              <a:sym typeface="Times New Roman"/>
            </a:endParaRPr>
          </a:p>
          <a:p>
            <a:pPr indent="-310832" lvl="0" marL="457200" marR="466090" rtl="0" algn="just">
              <a:lnSpc>
                <a:spcPct val="150000"/>
              </a:lnSpc>
              <a:spcBef>
                <a:spcPts val="5"/>
              </a:spcBef>
              <a:spcAft>
                <a:spcPts val="0"/>
              </a:spcAft>
              <a:buSzPct val="100000"/>
              <a:buFont typeface="Times New Roman"/>
              <a:buChar char="▪"/>
            </a:pPr>
            <a:r>
              <a:rPr lang="en-US" sz="1400">
                <a:latin typeface="Times New Roman"/>
                <a:ea typeface="Times New Roman"/>
                <a:cs typeface="Times New Roman"/>
                <a:sym typeface="Times New Roman"/>
              </a:rPr>
              <a:t> Smith, Jordan &amp; Lee, Emily. (2023). </a:t>
            </a:r>
            <a:r>
              <a:rPr lang="en-US" sz="1400" u="sng">
                <a:latin typeface="Times New Roman"/>
                <a:ea typeface="Times New Roman"/>
                <a:cs typeface="Times New Roman"/>
                <a:sym typeface="Times New Roman"/>
              </a:rPr>
              <a:t>Leveraging AI and Automation in Preventive Healthcare: BMI and Beyond.</a:t>
            </a:r>
            <a:r>
              <a:rPr lang="en-US" sz="1400">
                <a:latin typeface="Times New Roman"/>
                <a:ea typeface="Times New Roman"/>
                <a:cs typeface="Times New Roman"/>
                <a:sym typeface="Times New Roman"/>
              </a:rPr>
              <a:t> Advances in Healthcare Automation.11(2),98-105. </a:t>
            </a:r>
            <a:r>
              <a:rPr lang="en-US" sz="14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https://doi.org/10.1109/AHA.2023.10156789</a:t>
            </a:r>
            <a:endParaRPr sz="1400">
              <a:latin typeface="Times New Roman"/>
              <a:ea typeface="Times New Roman"/>
              <a:cs typeface="Times New Roman"/>
              <a:sym typeface="Times New Roman"/>
            </a:endParaRPr>
          </a:p>
          <a:p>
            <a:pPr indent="0" lvl="0" marL="0" rtl="0" algn="l">
              <a:lnSpc>
                <a:spcPct val="100000"/>
              </a:lnSpc>
              <a:spcBef>
                <a:spcPts val="795"/>
              </a:spcBef>
              <a:spcAft>
                <a:spcPts val="0"/>
              </a:spcAft>
              <a:buNone/>
            </a:pPr>
            <a:r>
              <a:t/>
            </a:r>
            <a:endParaRPr sz="1400">
              <a:latin typeface="Times New Roman"/>
              <a:ea typeface="Times New Roman"/>
              <a:cs typeface="Times New Roman"/>
              <a:sym typeface="Times New Roman"/>
            </a:endParaRPr>
          </a:p>
          <a:p>
            <a:pPr indent="-310832" lvl="0" marL="457200" marR="465455" rtl="0" algn="just">
              <a:lnSpc>
                <a:spcPct val="150000"/>
              </a:lnSpc>
              <a:spcBef>
                <a:spcPts val="5"/>
              </a:spcBef>
              <a:spcAft>
                <a:spcPts val="0"/>
              </a:spcAft>
              <a:buSzPct val="100000"/>
              <a:buFont typeface="Times New Roman"/>
              <a:buChar char="▪"/>
            </a:pPr>
            <a:r>
              <a:rPr lang="en-US" sz="1400">
                <a:latin typeface="Times New Roman"/>
                <a:ea typeface="Times New Roman"/>
                <a:cs typeface="Times New Roman"/>
                <a:sym typeface="Times New Roman"/>
              </a:rPr>
              <a:t> Wilson, Jonathan &amp; Carter, Amelia. (2020). </a:t>
            </a:r>
            <a:r>
              <a:rPr lang="en-US" sz="1400" u="sng">
                <a:latin typeface="Times New Roman"/>
                <a:ea typeface="Times New Roman"/>
                <a:cs typeface="Times New Roman"/>
                <a:sym typeface="Times New Roman"/>
              </a:rPr>
              <a:t>Data-Driven Healthcare: The Role of Automated Tools in Patient Monitoring. </a:t>
            </a:r>
            <a:r>
              <a:rPr lang="en-US" sz="1400">
                <a:latin typeface="Times New Roman"/>
                <a:ea typeface="Times New Roman"/>
                <a:cs typeface="Times New Roman"/>
                <a:sym typeface="Times New Roman"/>
              </a:rPr>
              <a:t>Journal of Healthcare Technology.32(1),55-66. </a:t>
            </a:r>
            <a:r>
              <a:rPr lang="en-US" sz="140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https://doi.org/10.1145/3361235</a:t>
            </a:r>
            <a:endParaRPr sz="1400">
              <a:latin typeface="Times New Roman"/>
              <a:ea typeface="Times New Roman"/>
              <a:cs typeface="Times New Roman"/>
              <a:sym typeface="Times New Roman"/>
            </a:endParaRPr>
          </a:p>
          <a:p>
            <a:pPr indent="0" lvl="0" marL="0" rtl="0" algn="l">
              <a:lnSpc>
                <a:spcPct val="100000"/>
              </a:lnSpc>
              <a:spcBef>
                <a:spcPts val="805"/>
              </a:spcBef>
              <a:spcAft>
                <a:spcPts val="0"/>
              </a:spcAft>
              <a:buNone/>
            </a:pPr>
            <a:r>
              <a:t/>
            </a:r>
            <a:endParaRPr sz="1400">
              <a:latin typeface="Times New Roman"/>
              <a:ea typeface="Times New Roman"/>
              <a:cs typeface="Times New Roman"/>
              <a:sym typeface="Times New Roman"/>
            </a:endParaRPr>
          </a:p>
          <a:p>
            <a:pPr indent="-310832" lvl="0" marL="457200" marR="467360" rtl="0" algn="just">
              <a:lnSpc>
                <a:spcPct val="150000"/>
              </a:lnSpc>
              <a:spcBef>
                <a:spcPts val="0"/>
              </a:spcBef>
              <a:spcAft>
                <a:spcPts val="0"/>
              </a:spcAft>
              <a:buSzPct val="100000"/>
              <a:buFont typeface="Times New Roman"/>
              <a:buChar char="▪"/>
            </a:pPr>
            <a:r>
              <a:rPr lang="en-US" sz="1400">
                <a:latin typeface="Times New Roman"/>
                <a:ea typeface="Times New Roman"/>
                <a:cs typeface="Times New Roman"/>
                <a:sym typeface="Times New Roman"/>
              </a:rPr>
              <a:t> Zhang, Mei &amp; Liu, Hong. (2021). </a:t>
            </a:r>
            <a:r>
              <a:rPr lang="en-US" sz="1400" u="sng">
                <a:latin typeface="Times New Roman"/>
                <a:ea typeface="Times New Roman"/>
                <a:cs typeface="Times New Roman"/>
                <a:sym typeface="Times New Roman"/>
              </a:rPr>
              <a:t>The Future of Robotic Process Automation in Medical Data Management.</a:t>
            </a:r>
            <a:r>
              <a:rPr lang="en-US" sz="1400">
                <a:latin typeface="Times New Roman"/>
                <a:ea typeface="Times New Roman"/>
                <a:cs typeface="Times New Roman"/>
                <a:sym typeface="Times New Roman"/>
              </a:rPr>
              <a:t> Journal of Healthcare Innovation.14(7),703-710. </a:t>
            </a:r>
            <a:r>
              <a:rPr lang="en-US" sz="14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https://doi.org/10.1007/s40945-021-00423-9</a:t>
            </a:r>
            <a:endParaRPr sz="1400">
              <a:latin typeface="Times New Roman"/>
              <a:ea typeface="Times New Roman"/>
              <a:cs typeface="Times New Roman"/>
              <a:sym typeface="Times New Roman"/>
            </a:endParaRPr>
          </a:p>
          <a:p>
            <a:pPr indent="0" lvl="0" marL="342900" rtl="0" algn="l">
              <a:lnSpc>
                <a:spcPct val="114000"/>
              </a:lnSpc>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0"/>
          <p:cNvSpPr/>
          <p:nvPr/>
        </p:nvSpPr>
        <p:spPr>
          <a:xfrm>
            <a:off x="2532822" y="2321005"/>
            <a:ext cx="4078361"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p:nvPr/>
        </p:nvSpPr>
        <p:spPr>
          <a:xfrm>
            <a:off x="727460" y="2321005"/>
            <a:ext cx="7689093"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